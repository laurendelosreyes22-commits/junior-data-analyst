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01" d="100"/>
          <a:sy n="101" d="100"/>
        </p:scale>
        <p:origin x="102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Right now, someone in Mississippi
is searching for a payday loan.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ABB"/>
                </a:solidFill>
                <a:latin typeface="Calibri"/>
              </a:rPr>
              <a:t>Does your ad budget know that?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EPCVIP sells leads to lenders.
Leads are worth more in high-demand markets.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657600"/>
            <a:ext cx="10058400" cy="822960"/>
          </a:xfrm>
          <a:prstGeom prst="rect">
            <a:avLst/>
          </a:prstGeom>
          <a:solidFill>
            <a:srgbClr val="1A1A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So which markets have the highest demand —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A pipeline that tracks financial keyword demand
across every US state — automatically.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749039"/>
            <a:ext cx="1417320" cy="38404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999ABB"/>
                </a:solidFill>
                <a:latin typeface="Calibri"/>
              </a:rPr>
              <a:t>pytrends</a:t>
            </a:r>
            <a:r>
              <a:rPr sz="1100" b="1" dirty="0">
                <a:solidFill>
                  <a:srgbClr val="999ABB"/>
                </a:solidFill>
                <a:latin typeface="Calibri"/>
              </a:rPr>
              <a:t>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8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66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749039"/>
            <a:ext cx="1417320" cy="38404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999ABB"/>
                </a:solidFill>
                <a:latin typeface="Calibri"/>
              </a:rPr>
              <a:t>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6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749039"/>
            <a:ext cx="1417320" cy="38404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99ABB"/>
                </a:solidFill>
                <a:latin typeface="Calibri"/>
              </a:rPr>
              <a:t>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6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749039"/>
            <a:ext cx="1417320" cy="38404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99ABB"/>
                </a:solidFill>
                <a:latin typeface="Calibri"/>
              </a:rPr>
              <a:t>dbt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6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749039"/>
            <a:ext cx="1417320" cy="38404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999ABB"/>
                </a:solidFill>
                <a:latin typeface="Calibri"/>
              </a:rPr>
              <a:t>Streamlit</a:t>
            </a:r>
            <a:r>
              <a:rPr sz="1100" b="1" dirty="0">
                <a:solidFill>
                  <a:srgbClr val="999ABB"/>
                </a:solidFill>
                <a:latin typeface="Calibri"/>
              </a:rPr>
              <a:t>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ABB"/>
                </a:solidFill>
                <a:latin typeface="Calibri"/>
              </a:rPr>
              <a:t>Runs daily. No manual work. Always fresh.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dur="indefinite" nodeType="mainSeq">
                <p:childTnLst>
                  <p:par>
                    <p:cTn id="24" fill="hold">
                      <p:stCondLst>
                        <p:cond evt="onBegin"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evt="onBegin"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evt="onBegin"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evt="onBegin"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evt="onBegin"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4" grpId="0" uiExpand="1" build="p" animBg="1"/>
      <p:bldP spid="4" grpId="1" animBg="1"/>
      <p:bldP spid="5" grpId="1" uiExpand="1" build="p"/>
      <p:bldP spid="6" grpId="1" uiExpand="1" build="p" animBg="1"/>
      <p:bldP spid="6" grpId="2" animBg="1"/>
      <p:bldP spid="7" grpId="2" uiExpand="1" build="p"/>
      <p:bldP spid="8" grpId="2" uiExpand="1" build="p" animBg="1"/>
      <p:bldP spid="8" grpId="3" animBg="1"/>
      <p:bldP spid="9" grpId="3" uiExpand="1" build="p"/>
      <p:bldP spid="10" grpId="3" uiExpand="1" build="p" animBg="1"/>
      <p:bldP spid="10" grpId="4" animBg="1"/>
      <p:bldP spid="11" grpId="4" uiExpand="1" build="p"/>
      <p:bldP spid="12" grpId="4" uiExpand="1" build="p" animBg="1"/>
      <p:bldP spid="12" grpId="5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16097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555588"/>
                </a:solidFill>
                <a:latin typeface="Calibri"/>
              </a:rPr>
              <a:t>DESCRIPTIVE — WHAT HAPPENED?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7719" y="475547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Personal loans lead nationally.
But the map tells a different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77351" y="183788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999ABB"/>
                </a:solidFill>
                <a:latin typeface="Calibri"/>
              </a:rPr>
              <a:t>Personal Loans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0009" y="1837886"/>
            <a:ext cx="5943600" cy="34747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60009" y="1837886"/>
            <a:ext cx="5619403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0852" y="183788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77351" y="236823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ABB"/>
                </a:solidFill>
                <a:latin typeface="Calibri"/>
              </a:rPr>
              <a:t>Cash Advance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0009" y="2368237"/>
            <a:ext cx="5943600" cy="34747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60009" y="2368237"/>
            <a:ext cx="54032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54721" y="236823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77351" y="289859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ABB"/>
                </a:solidFill>
                <a:latin typeface="Calibri"/>
              </a:rPr>
              <a:t>Credit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60009" y="2898590"/>
            <a:ext cx="5943600" cy="34747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60009" y="2898590"/>
            <a:ext cx="4538749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198" y="289859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77351" y="342894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ABB"/>
                </a:solidFill>
                <a:latin typeface="Calibri"/>
              </a:rPr>
              <a:t>Payday Loans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60009" y="3428942"/>
            <a:ext cx="5943600" cy="34747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60009" y="3428942"/>
            <a:ext cx="2917767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9216" y="342894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77351" y="395929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999ABB"/>
                </a:solidFill>
                <a:latin typeface="Calibri"/>
              </a:rPr>
              <a:t>Installment Loans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60009" y="3959294"/>
            <a:ext cx="5943600" cy="34747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560009" y="3959294"/>
            <a:ext cx="2053243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4692" y="395929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pic>
        <p:nvPicPr>
          <p:cNvPr id="25" name="Picture 24" descr="dashboar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96" y="4373658"/>
            <a:ext cx="6408976" cy="23471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DIAGNOSTIC — WHY DID IT HAPPEN?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South is underbanked.
That's where the demand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TOP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566160"/>
            <a:ext cx="6217920" cy="1828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Short-term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Mississippi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Revolving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Wyoming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245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914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Consumer lending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7914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Mississippi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7914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84.5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532120"/>
            <a:ext cx="10058400" cy="822960"/>
          </a:xfrm>
          <a:prstGeom prst="rect">
            <a:avLst/>
          </a:prstGeom>
          <a:solidFill>
            <a:srgbClr val="1A14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Mississippi leads 2 of 3 categories — lower incomes, fewer banks, highest unmet credit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8B5CF6"/>
                </a:solidFill>
                <a:latin typeface="Calibri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ABB"/>
                </a:solidFill>
                <a:latin typeface="Calibri"/>
              </a:rPr>
              <a:t>payday loan score
in Mississippi
vs. 38 national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Go where the demand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0B981"/>
                </a:solidFill>
                <a:latin typeface="Calibri"/>
              </a:rPr>
              <a:t>Shift 30–40% of short-term credit budget to
Mississippi, Louisiana, Wyoming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0332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999ABB"/>
                </a:solidFill>
                <a:latin typeface="Calibri"/>
              </a:rPr>
              <a:t>Higher-intent leads in underserved markets
with lower advertiser competition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5720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999ABB"/>
                </a:solidFill>
                <a:latin typeface="Calibri"/>
              </a:rPr>
              <a:t>Lower cost-per-lead vs. saturated markets
like California, New York, Texas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44068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999ABB"/>
                </a:solidFill>
                <a:latin typeface="Calibri"/>
              </a:rPr>
              <a:t>Pipeline refreshes daily — rerun this analysis
monthly as demand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88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Let me show you the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366F1"/>
                </a:solidFill>
                <a:latin typeface="Calibri"/>
              </a:rPr>
              <a:t>junior-data-analyst-56witkrgeceqhugwofdpzf.streamlit.app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Descriptive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ABB"/>
                </a:solidFill>
                <a:latin typeface="Calibri"/>
              </a:rPr>
              <a:t>Click a state → see keyword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Diagnostic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ABB"/>
                </a:solidFill>
                <a:latin typeface="Calibri"/>
              </a:rPr>
              <a:t>Category comparison + top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ABB"/>
                </a:solidFill>
                <a:latin typeface="Calibri"/>
              </a:rPr>
              <a:t>Industry research, synthesized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FFFFFF"/>
                </a:solidFill>
                <a:latin typeface="Calibri"/>
              </a:rPr>
              <a:t>The signal exists.
The pipeline captures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520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6366F1"/>
                </a:solidFill>
                <a:latin typeface="Calibri"/>
              </a:rPr>
              <a:t>Now act on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999ABB"/>
                </a:solidFill>
                <a:latin typeface="Calibri"/>
              </a:rPr>
              <a:t>github.com</a:t>
            </a:r>
            <a:r>
              <a:rPr sz="1600" b="0" i="0" dirty="0">
                <a:solidFill>
                  <a:srgbClr val="999ABB"/>
                </a:solidFill>
                <a:latin typeface="Calibri"/>
              </a:rPr>
              <a:t>/laurendelosreyes22-commits/junior-data-analyst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3256</TotalTime>
  <Words>316</Words>
  <Application>Microsoft Macintosh PowerPoint</Application>
  <PresentationFormat>Custom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 los Reyes, Lauren</cp:lastModifiedBy>
  <cp:revision>3</cp:revision>
  <dcterms:created xsi:type="dcterms:W3CDTF">2013-01-27T09:14:16Z</dcterms:created>
  <dcterms:modified xsi:type="dcterms:W3CDTF">2026-05-04T06:03:00Z</dcterms:modified>
  <cp:category/>
</cp:coreProperties>
</file>